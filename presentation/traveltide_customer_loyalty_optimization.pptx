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2" roundtripDataSignature="AMtx7mgw55aFx3sS8q1s8KRSPfDJi/cr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B1AF5B-D9EB-444A-AA63-3697DC61E924}">
  <a:tblStyle styleId="{77B1AF5B-D9EB-444A-AA63-3697DC61E92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2305A7AC-FAE2-4DA1-877B-44B75022E77B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"Good morning afternoon, and thank you for joining today.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My name is Pradeep Bhat, and in this project I analyzed customer behavior for TravelTide to answer a simple but important business question: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</a:rPr>
              <a:t>Which loyalty perks are most likely to increase customer engagement and retention?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Using customer demographics, booking history, and travel behavior, I built a segmentation framework and developed data-driven recommendations for TravelTide's loyalty strategy."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"To answer that question, I'll first introduce the business problem and the data available.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/>
              <a:t>Then I'll walk through three key customer behavior insights, explain the segmentation approach I used, review the dashboard findings, and finally present strategic recommendations that TravelTide could implement."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"TravelTide is an online travel platform offering flights, hotels, and travel packages.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Like many travel businesses, retaining existing customers is often more cost-effective than acquiring new ones.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The challenge is that customers do not respond equally to every loyalty incentive.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Some customers may value flight discounts, while others may respond better to hotel-related perks or free checked baggage.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/>
              <a:t>The goal of this project was to identify which incentives create the strongest engagement and determine where TravelTide should focus its loyalty investments."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"To perform this analysis, I combined customer demographics, session activity, flight bookings, and hotel bookings.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The dataset included approximately 50,000 customers, 105,000 flight bookings, and 105,000 hotel bookings.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SQL was used for data preparation, Python for feature engineering and analysis, and Tableau for visualization.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/>
              <a:t>I also created several business-focused features such as age segments, travel frequency groups, hotel usage categories, and preferred perk indicators, which became the foundation for customer segmentation."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"One of the strongest findings was that customers aged 40 to 49 represent the highest-value segment.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This group accounts for approximately 30.8 percent of engaged customers and consistently shows stronger loyalty engagement than other age groups.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From a business perspective, this means that retention campaigns targeting this segment are likely to generate the highest return on marketing investment."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"Another important finding is that medium-frequency travelers represent the largest customer segment.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account for roughly 43 percent of the customer base and demonstrate strong engagement levels.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/>
              <a:t>This creates a significant opportunity because even small improvements in retention or conversion within this segment could impact a large portion of TravelTide's customers."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"Finally, customers who purchase both flights and hotels show substantially higher engagement than customers using only one service.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Their engagement score is significantly higher than either flight-only or hotel-only customers.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suggests that multi-service customers are among TravelTide's most valuable users and may be particularly receptive to loyalty programs that encourage bundled travel purchases."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"After identifying these behavioral patterns, the next step was creating actionable customer segments.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Instead of using a complex machine learning model, I chose a rule-based segmentation approach.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reason is simple: business teams need a solution that is transparent, explainable, and easy to operationalize.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Each customer was evaluated using behavioral and demographic variables that directly relate to loyalty preferences."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"Customers were segmented using four primary dimensions.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Travel frequency measured engagement intensity.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Age represented demographic behavior.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Hotel usage captured accommodation preferences.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Finally, perk preference identified the loyalty incentive most likely to resonate with each customer.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/>
              <a:t>Combining these dimensions created a practical framework that can be used immediately by marketing teams for targeted campaigns."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"Applying this framework produced several clear outcomes.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Flight Discount Voucher emerged as the most preferred loyalty perk overall.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Customers aged 40 to 49 formed the highest-value segment.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Medium-frequency travelers represented the largest engagement opportunity.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And high hotel-usage customers showed the strongest preference for Free Checked Bag incentives.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/>
              <a:t>Together, these findings provide a strong foundation for targeted loyalty strategies."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"At an executive level, the most important finding is that Flight Discount Voucher dominates customer preferences.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It is preferred by approximately 52 percent of customers and remains the leading incentive across demographic groups.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/>
              <a:t>This consistency is important because it suggests TravelTide can implement a standardized loyalty offering without significantly reducing relevance for most customers."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"This dashboard takes a deeper look at customer segments.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We can see that customers aged 40 to 49 contribute the largest share of engaged users.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Medium-frequency travelers represent the strongest engagement opportunity due to their scale.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We also see that customers with high hotel usage display a stronger preference for Free Checked Bag incentives than other groups.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/>
              <a:t>Together, these insights show why a segmented approach is more effective than treating all customers identically."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"Based on the analysis, I would recommend four actions.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First, standardize Flight Discount Voucher as the primary loyalty incentive because it consistently performs best across customer segments.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Second, prioritize customers aged 40 to 49 because they represent the highest-value audience.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Third, focus retention efforts on medium-frequency travelers due to their size and engagement levels.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And finally, offer Free Checked Bag promotions to high hotel-usage customers, where this perk shows the strongest preference.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These actions balance scalability with targeted personalization."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"To summarize, Flight Discount Voucher emerged as the strongest loyalty incentive across the customer base.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The highest-value customer segment is customers aged 40 to 49, while medium-frequency travelers represent the largest engagement opportunity.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/>
              <a:t>Looking ahead, TravelTide could strengthen this approach through A/B testing, churn prediction models, and eventually machine-learning-driven personalization that dynamically recommends perks for individual customers."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"That concludes my presentation.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Thank you for your time and attention.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I'd be happy to answer any questions."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100"/>
              <a:buNone/>
            </a:pPr>
            <a:r>
              <a:rPr b="1" lang="en" sz="2300">
                <a:solidFill>
                  <a:schemeClr val="dk1"/>
                </a:solidFill>
              </a:rPr>
              <a:t>🔥 Updated Q&amp;A (Higher Quality Answers)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en" sz="1300">
                <a:solidFill>
                  <a:schemeClr val="dk1"/>
                </a:solidFill>
              </a:rPr>
              <a:t>Why did you choose rule-based segmentation instead of machine learning?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"I wanted a solution that business stakeholders could immediately understand and use. Rule-based segmentation provides transparency and explainability. Machine learning would be a logical next step once the loyalty program has generated enough historical response data."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en" sz="1300">
                <a:solidFill>
                  <a:schemeClr val="dk1"/>
                </a:solidFill>
              </a:rPr>
              <a:t>Why was Flight Discount Voucher selected?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"It was preferred by approximately 52 percent of customers and consistently ranked first across multiple customer segments, making it the most scalable loyalty incentive."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en" sz="1300">
                <a:solidFill>
                  <a:schemeClr val="dk1"/>
                </a:solidFill>
              </a:rPr>
              <a:t>Why is the 40–49 age group important?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"They represent about 30.8 percent of engaged customers and showed the strongest overall loyalty engagement in the analysis, making them a high-priority retention segment."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en" sz="1300">
                <a:solidFill>
                  <a:schemeClr val="dk1"/>
                </a:solidFill>
              </a:rPr>
              <a:t>Why are medium-frequency travelers important?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"They combine strong engagement with large population size. Improving retention in this segment can generate significant business impact because it affects a large portion of customers."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en" sz="1300">
                <a:solidFill>
                  <a:schemeClr val="dk1"/>
                </a:solidFill>
              </a:rPr>
              <a:t>What is the biggest limitation of your analysis?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"The dataset does not include actual loyalty perk redemption history. Therefore, the recommendations are based on observed customer preferences and engagement behavior rather than measured campaign outcomes."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en" sz="1300">
                <a:solidFill>
                  <a:schemeClr val="dk1"/>
                </a:solidFill>
              </a:rPr>
              <a:t>If you had another month, what would you do?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"I would build a predictive recommendation model, run A/B tests on different perk strategies, and develop a framework to measure long-term customer lifetime value impact."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en" sz="1300">
                <a:solidFill>
                  <a:schemeClr val="dk1"/>
                </a:solidFill>
              </a:rPr>
              <a:t>How would you measure success?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"I would track retention rate, repeat booking rate, loyalty perk redemption rate, customer lifetime value, and campaign conversion rate."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en" sz="1300">
                <a:solidFill>
                  <a:schemeClr val="dk1"/>
                </a:solidFill>
              </a:rPr>
              <a:t>What surprised you most?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"I expected travel frequency to be the strongest driver of engagement. However, age segmentation—particularly the 40–49 group—emerged as an even stronger indicator of loyalty engagement."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5725" y="1633775"/>
            <a:ext cx="8520600" cy="12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800"/>
              <a:t>TravelTide Customer Loyalty Perk Optimization</a:t>
            </a:r>
            <a:endParaRPr sz="2800"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83550" y="2457275"/>
            <a:ext cx="85206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800"/>
              <a:t>Masterschool Data Science &amp; Analytics Mastery Project</a:t>
            </a:r>
            <a:endParaRPr sz="1800"/>
          </a:p>
        </p:txBody>
      </p:sp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911075" y="3250275"/>
            <a:ext cx="73299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000"/>
              <a:t>Prepared by: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000"/>
              <a:t>Pradeep Bhat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000"/>
              <a:t>05 Jun 2026</a:t>
            </a:r>
            <a:endParaRPr sz="1000"/>
          </a:p>
        </p:txBody>
      </p:sp>
      <p:pic>
        <p:nvPicPr>
          <p:cNvPr id="57" name="Google Shape;57;p1" title="Screenshot 2026-06-05 at 14.58.2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1450" y="471725"/>
            <a:ext cx="1181100" cy="11620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</p:pic>
      <p:sp>
        <p:nvSpPr>
          <p:cNvPr id="58" name="Google Shape;58;p1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Agenda</a:t>
            </a:r>
            <a:endParaRPr sz="2820"/>
          </a:p>
        </p:txBody>
      </p:sp>
      <p:sp>
        <p:nvSpPr>
          <p:cNvPr id="64" name="Google Shape;64;p2"/>
          <p:cNvSpPr txBox="1"/>
          <p:nvPr>
            <p:ph idx="1" type="body"/>
          </p:nvPr>
        </p:nvSpPr>
        <p:spPr>
          <a:xfrm>
            <a:off x="311700" y="1559875"/>
            <a:ext cx="8520600" cy="23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Business Context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Data Overview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Customer Behavior Insights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Customer Segmentation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Dashboard Findings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Strategic Recommendations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Future Opportunities</a:t>
            </a:r>
            <a:endParaRPr/>
          </a:p>
        </p:txBody>
      </p:sp>
      <p:pic>
        <p:nvPicPr>
          <p:cNvPr id="65" name="Google Shape;65;p2" title="Screenshot 2026-06-05 at 14.58.2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845" y="334163"/>
            <a:ext cx="807455" cy="7944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Business Context</a:t>
            </a:r>
            <a:endParaRPr/>
          </a:p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11700" y="1152475"/>
            <a:ext cx="4260300" cy="24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TravelTide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Online travel platform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Flights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Hotels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Travel packages</a:t>
            </a:r>
            <a:endParaRPr/>
          </a:p>
        </p:txBody>
      </p:sp>
      <p:sp>
        <p:nvSpPr>
          <p:cNvPr id="73" name="Google Shape;73;p3"/>
          <p:cNvSpPr txBox="1"/>
          <p:nvPr>
            <p:ph idx="1" type="body"/>
          </p:nvPr>
        </p:nvSpPr>
        <p:spPr>
          <a:xfrm>
            <a:off x="4741700" y="1152475"/>
            <a:ext cx="4260300" cy="25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chemeClr val="dk1"/>
                </a:solidFill>
              </a:rPr>
              <a:t>Business Challenge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How can TravelTide: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Increase engagement?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Reduce churn?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Improve loyalty program effectiveness?</a:t>
            </a:r>
            <a:endParaRPr/>
          </a:p>
        </p:txBody>
      </p:sp>
      <p:sp>
        <p:nvSpPr>
          <p:cNvPr id="74" name="Google Shape;74;p3"/>
          <p:cNvSpPr txBox="1"/>
          <p:nvPr>
            <p:ph idx="1" type="body"/>
          </p:nvPr>
        </p:nvSpPr>
        <p:spPr>
          <a:xfrm>
            <a:off x="447125" y="3822675"/>
            <a:ext cx="7583700" cy="9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Project Objective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Identify the most effective loyalty perk for each customer segment.</a:t>
            </a:r>
            <a:endParaRPr/>
          </a:p>
        </p:txBody>
      </p:sp>
      <p:pic>
        <p:nvPicPr>
          <p:cNvPr id="75" name="Google Shape;75;p3" title="Screenshot 2026-06-05 at 14.58.2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0820" y="334163"/>
            <a:ext cx="807455" cy="7944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Data &amp; Methodology</a:t>
            </a:r>
            <a:endParaRPr/>
          </a:p>
        </p:txBody>
      </p:sp>
      <p:sp>
        <p:nvSpPr>
          <p:cNvPr id="82" name="Google Shape;82;p4"/>
          <p:cNvSpPr txBox="1"/>
          <p:nvPr>
            <p:ph idx="1" type="body"/>
          </p:nvPr>
        </p:nvSpPr>
        <p:spPr>
          <a:xfrm>
            <a:off x="311700" y="1423350"/>
            <a:ext cx="3169800" cy="22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Data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50,000 customers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105,000 flights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105,000 hotel bookings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Session activity</a:t>
            </a:r>
            <a:endParaRPr/>
          </a:p>
        </p:txBody>
      </p:sp>
      <p:sp>
        <p:nvSpPr>
          <p:cNvPr id="83" name="Google Shape;83;p4"/>
          <p:cNvSpPr txBox="1"/>
          <p:nvPr>
            <p:ph idx="1" type="body"/>
          </p:nvPr>
        </p:nvSpPr>
        <p:spPr>
          <a:xfrm>
            <a:off x="3855000" y="1423350"/>
            <a:ext cx="2168100" cy="22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Tools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SQL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Python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Tableau</a:t>
            </a:r>
            <a:endParaRPr/>
          </a:p>
        </p:txBody>
      </p:sp>
      <p:sp>
        <p:nvSpPr>
          <p:cNvPr id="84" name="Google Shape;84;p4"/>
          <p:cNvSpPr txBox="1"/>
          <p:nvPr>
            <p:ph idx="1" type="body"/>
          </p:nvPr>
        </p:nvSpPr>
        <p:spPr>
          <a:xfrm>
            <a:off x="6087000" y="1423350"/>
            <a:ext cx="2745300" cy="22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Features Created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Age Segment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Travel Frequency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Hotel Usage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Family Status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Preferred Perk</a:t>
            </a:r>
            <a:endParaRPr/>
          </a:p>
        </p:txBody>
      </p:sp>
      <p:pic>
        <p:nvPicPr>
          <p:cNvPr id="85" name="Google Shape;85;p4" title="Screenshot 2026-06-05 at 14.58.2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845" y="334163"/>
            <a:ext cx="807455" cy="7944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4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Customer Behavior Insights</a:t>
            </a:r>
            <a:endParaRPr/>
          </a:p>
        </p:txBody>
      </p:sp>
      <p:sp>
        <p:nvSpPr>
          <p:cNvPr id="92" name="Google Shape;92;p5"/>
          <p:cNvSpPr txBox="1"/>
          <p:nvPr>
            <p:ph idx="1" type="body"/>
          </p:nvPr>
        </p:nvSpPr>
        <p:spPr>
          <a:xfrm>
            <a:off x="311700" y="1152475"/>
            <a:ext cx="8520600" cy="10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Insight #1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1600">
                <a:solidFill>
                  <a:schemeClr val="dk1"/>
                </a:solidFill>
              </a:rPr>
              <a:t>Customers Aged 40 - 49 Represent Highest-Value Segment</a:t>
            </a:r>
            <a:endParaRPr sz="1600"/>
          </a:p>
        </p:txBody>
      </p:sp>
      <p:sp>
        <p:nvSpPr>
          <p:cNvPr id="93" name="Google Shape;93;p5"/>
          <p:cNvSpPr txBox="1"/>
          <p:nvPr>
            <p:ph idx="1" type="body"/>
          </p:nvPr>
        </p:nvSpPr>
        <p:spPr>
          <a:xfrm>
            <a:off x="311700" y="3850775"/>
            <a:ext cx="8520600" cy="10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en" sz="1000">
                <a:solidFill>
                  <a:schemeClr val="dk1"/>
                </a:solidFill>
              </a:rPr>
              <a:t>Customers with higher browsing activity are significantly more likely to complete bookings.</a:t>
            </a:r>
            <a:endParaRPr sz="1000"/>
          </a:p>
        </p:txBody>
      </p:sp>
      <p:pic>
        <p:nvPicPr>
          <p:cNvPr id="94" name="Google Shape;94;p5" title="Screenshot 2026-06-05 at 12.38.4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3650" y="2501625"/>
            <a:ext cx="2706950" cy="86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5" title="Screenshot 2026-06-05 at 14.58.2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845" y="334163"/>
            <a:ext cx="807455" cy="7944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Customer Behavior Insights</a:t>
            </a:r>
            <a:endParaRPr/>
          </a:p>
        </p:txBody>
      </p:sp>
      <p:sp>
        <p:nvSpPr>
          <p:cNvPr id="102" name="Google Shape;102;p6"/>
          <p:cNvSpPr txBox="1"/>
          <p:nvPr>
            <p:ph idx="1" type="body"/>
          </p:nvPr>
        </p:nvSpPr>
        <p:spPr>
          <a:xfrm>
            <a:off x="311700" y="3850775"/>
            <a:ext cx="8520600" cy="10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en" sz="1000">
                <a:solidFill>
                  <a:schemeClr val="dk1"/>
                </a:solidFill>
              </a:rPr>
              <a:t>Medium-frequency travelers represent the largest engaged customer group and the strongest opportunity for loyalty campaigns.</a:t>
            </a:r>
            <a:endParaRPr sz="1000"/>
          </a:p>
        </p:txBody>
      </p:sp>
      <p:sp>
        <p:nvSpPr>
          <p:cNvPr id="103" name="Google Shape;103;p6"/>
          <p:cNvSpPr txBox="1"/>
          <p:nvPr>
            <p:ph idx="1" type="body"/>
          </p:nvPr>
        </p:nvSpPr>
        <p:spPr>
          <a:xfrm>
            <a:off x="311700" y="1017725"/>
            <a:ext cx="8520600" cy="10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chemeClr val="dk1"/>
                </a:solidFill>
              </a:rPr>
              <a:t>Insight #2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1600">
                <a:solidFill>
                  <a:schemeClr val="dk1"/>
                </a:solidFill>
              </a:rPr>
              <a:t>Medium-frequency travelers represent the largest active segment (~43% of customers).</a:t>
            </a:r>
            <a:endParaRPr sz="1600"/>
          </a:p>
        </p:txBody>
      </p:sp>
      <p:pic>
        <p:nvPicPr>
          <p:cNvPr id="104" name="Google Shape;104;p6" title="Travel Frequency Distribution_v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000" y="2384876"/>
            <a:ext cx="8188774" cy="109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6" title="Screenshot 2026-06-05 at 14.58.2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845" y="334163"/>
            <a:ext cx="807455" cy="79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Customer Behavior Insights</a:t>
            </a:r>
            <a:endParaRPr/>
          </a:p>
        </p:txBody>
      </p:sp>
      <p:sp>
        <p:nvSpPr>
          <p:cNvPr id="112" name="Google Shape;112;p7"/>
          <p:cNvSpPr txBox="1"/>
          <p:nvPr>
            <p:ph idx="1" type="body"/>
          </p:nvPr>
        </p:nvSpPr>
        <p:spPr>
          <a:xfrm>
            <a:off x="311700" y="1017725"/>
            <a:ext cx="85206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Insight #3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32353"/>
              <a:buNone/>
            </a:pPr>
            <a:r>
              <a:rPr lang="en" sz="1600">
                <a:solidFill>
                  <a:schemeClr val="dk1"/>
                </a:solidFill>
              </a:rPr>
              <a:t>Customers booking both flights and hotels show 74% higher engagement than single-service customers.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13" name="Google Shape;113;p7"/>
          <p:cNvSpPr txBox="1"/>
          <p:nvPr>
            <p:ph idx="1" type="body"/>
          </p:nvPr>
        </p:nvSpPr>
        <p:spPr>
          <a:xfrm>
            <a:off x="311700" y="3669000"/>
            <a:ext cx="8520600" cy="10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en" sz="1200"/>
              <a:t>Customers using both hotels and flights demonstrate stronger engagement than customers using only one service.</a:t>
            </a:r>
            <a:endParaRPr b="1" sz="1200"/>
          </a:p>
        </p:txBody>
      </p:sp>
      <p:pic>
        <p:nvPicPr>
          <p:cNvPr id="114" name="Google Shape;114;p7" title="Multi-Service Customers_v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000" y="2141876"/>
            <a:ext cx="8008003" cy="13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7" title="Screenshot 2026-06-05 at 14.58.2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845" y="334163"/>
            <a:ext cx="807455" cy="79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7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Customer Segmentation Approach</a:t>
            </a:r>
            <a:endParaRPr/>
          </a:p>
        </p:txBody>
      </p:sp>
      <p:sp>
        <p:nvSpPr>
          <p:cNvPr id="122" name="Google Shape;122;p8"/>
          <p:cNvSpPr txBox="1"/>
          <p:nvPr>
            <p:ph idx="1" type="body"/>
          </p:nvPr>
        </p:nvSpPr>
        <p:spPr>
          <a:xfrm>
            <a:off x="311700" y="1189175"/>
            <a:ext cx="85206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n"/>
              <a:t>Segmentation Variables Used</a:t>
            </a:r>
            <a:endParaRPr b="1"/>
          </a:p>
        </p:txBody>
      </p:sp>
      <p:sp>
        <p:nvSpPr>
          <p:cNvPr id="123" name="Google Shape;123;p8"/>
          <p:cNvSpPr txBox="1"/>
          <p:nvPr/>
        </p:nvSpPr>
        <p:spPr>
          <a:xfrm>
            <a:off x="413550" y="4024675"/>
            <a:ext cx="71295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Goal: Create actionable segments for targeted loyalty campaigns.</a:t>
            </a:r>
            <a:endParaRPr b="1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4" name="Google Shape;124;p8"/>
          <p:cNvGraphicFramePr/>
          <p:nvPr/>
        </p:nvGraphicFramePr>
        <p:xfrm>
          <a:off x="495300" y="175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{77B1AF5B-D9EB-444A-AA63-3697DC61E924}</a:tableStyleId>
              </a:tblPr>
              <a:tblGrid>
                <a:gridCol w="2971800"/>
                <a:gridCol w="2971800"/>
              </a:tblGrid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highlight>
                            <a:srgbClr val="FFFFFF"/>
                          </a:highlight>
                        </a:rPr>
                        <a:t>Variable</a:t>
                      </a:r>
                      <a:endParaRPr b="1" sz="1100" u="none" cap="none" strike="noStrike">
                        <a:highlight>
                          <a:srgbClr val="FFFFFF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highlight>
                          <a:srgbClr val="FFFFFF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highlight>
                            <a:srgbClr val="FFFFFF"/>
                          </a:highlight>
                        </a:rPr>
                        <a:t>Age Segment</a:t>
                      </a:r>
                      <a:endParaRPr sz="1100" u="none" cap="none" strike="noStrike">
                        <a:highlight>
                          <a:srgbClr val="FFFFFF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highlight>
                            <a:srgbClr val="FFFFFF"/>
                          </a:highlight>
                        </a:rPr>
                        <a:t>↓</a:t>
                      </a:r>
                      <a:endParaRPr sz="1100" u="none" cap="none" strike="noStrike">
                        <a:highlight>
                          <a:srgbClr val="FFFFFF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highlight>
                            <a:srgbClr val="FFFFFF"/>
                          </a:highlight>
                        </a:rPr>
                        <a:t>Travel Frequency</a:t>
                      </a:r>
                      <a:endParaRPr sz="1100" u="none" cap="none" strike="noStrike">
                        <a:highlight>
                          <a:srgbClr val="FFFFFF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highlight>
                            <a:srgbClr val="FFFFFF"/>
                          </a:highlight>
                        </a:rPr>
                        <a:t>↓</a:t>
                      </a:r>
                      <a:endParaRPr sz="1100" u="none" cap="none" strike="noStrike">
                        <a:highlight>
                          <a:srgbClr val="FFFFFF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highlight>
                            <a:srgbClr val="FFFFFF"/>
                          </a:highlight>
                        </a:rPr>
                        <a:t>Hotel Usage</a:t>
                      </a:r>
                      <a:endParaRPr sz="1100" u="none" cap="none" strike="noStrike">
                        <a:highlight>
                          <a:srgbClr val="FFFFFF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highlight>
                            <a:srgbClr val="FFFFFF"/>
                          </a:highlight>
                        </a:rPr>
                        <a:t>↓</a:t>
                      </a:r>
                      <a:endParaRPr sz="1100" u="none" cap="none" strike="noStrike">
                        <a:highlight>
                          <a:srgbClr val="FFFFFF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highlight>
                            <a:srgbClr val="FFFFFF"/>
                          </a:highlight>
                        </a:rPr>
                        <a:t>Family Status</a:t>
                      </a:r>
                      <a:endParaRPr sz="1100" u="none" cap="none" strike="noStrike">
                        <a:highlight>
                          <a:srgbClr val="FFFFFF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highlight>
                            <a:srgbClr val="FFFFFF"/>
                          </a:highlight>
                        </a:rPr>
                        <a:t>↓</a:t>
                      </a:r>
                      <a:endParaRPr sz="1100" u="none" cap="none" strike="noStrike">
                        <a:highlight>
                          <a:srgbClr val="FFFFFF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highlight>
                            <a:srgbClr val="FFFFFF"/>
                          </a:highlight>
                        </a:rPr>
                        <a:t>Preferred Perk</a:t>
                      </a:r>
                      <a:endParaRPr sz="1100" u="none" cap="none" strike="noStrike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highlight>
                            <a:srgbClr val="FFFFFF"/>
                          </a:highlight>
                        </a:rPr>
                        <a:t>Purpose</a:t>
                      </a:r>
                      <a:endParaRPr b="1" sz="1100" u="none" cap="none" strike="noStrike">
                        <a:highlight>
                          <a:srgbClr val="FFFFFF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highlight>
                          <a:srgbClr val="FFFFFF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highlight>
                            <a:srgbClr val="FFFFFF"/>
                          </a:highlight>
                        </a:rPr>
                        <a:t>Demographic behavior</a:t>
                      </a:r>
                      <a:endParaRPr sz="1100" u="none" cap="none" strike="noStrike">
                        <a:highlight>
                          <a:srgbClr val="FFFFFF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highlight>
                            <a:srgbClr val="FFFFFF"/>
                          </a:highlight>
                        </a:rPr>
                        <a:t>↓</a:t>
                      </a:r>
                      <a:endParaRPr sz="1100" u="none" cap="none" strike="noStrike">
                        <a:highlight>
                          <a:srgbClr val="FFFFFF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highlight>
                            <a:srgbClr val="FFFFFF"/>
                          </a:highlight>
                        </a:rPr>
                        <a:t>Engagement intensity</a:t>
                      </a:r>
                      <a:endParaRPr sz="1100" u="none" cap="none" strike="noStrike">
                        <a:highlight>
                          <a:srgbClr val="FFFFFF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highlight>
                            <a:srgbClr val="FFFFFF"/>
                          </a:highlight>
                        </a:rPr>
                        <a:t>↓</a:t>
                      </a:r>
                      <a:endParaRPr sz="1100" u="none" cap="none" strike="noStrike">
                        <a:highlight>
                          <a:srgbClr val="FFFFFF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highlight>
                            <a:srgbClr val="FFFFFF"/>
                          </a:highlight>
                        </a:rPr>
                        <a:t>Accommodation behavior</a:t>
                      </a:r>
                      <a:endParaRPr sz="1100" u="none" cap="none" strike="noStrike">
                        <a:highlight>
                          <a:srgbClr val="FFFFFF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highlight>
                            <a:srgbClr val="FFFFFF"/>
                          </a:highlight>
                        </a:rPr>
                        <a:t>↓</a:t>
                      </a:r>
                      <a:endParaRPr sz="1100" u="none" cap="none" strike="noStrike">
                        <a:highlight>
                          <a:srgbClr val="FFFFFF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highlight>
                            <a:srgbClr val="FFFFFF"/>
                          </a:highlight>
                        </a:rPr>
                        <a:t>Household needs</a:t>
                      </a:r>
                      <a:endParaRPr sz="1100" u="none" cap="none" strike="noStrike">
                        <a:highlight>
                          <a:srgbClr val="FFFFFF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highlight>
                            <a:srgbClr val="FFFFFF"/>
                          </a:highlight>
                        </a:rPr>
                        <a:t>↓</a:t>
                      </a:r>
                      <a:endParaRPr sz="1100" u="none" cap="none" strike="noStrike">
                        <a:highlight>
                          <a:srgbClr val="FFFFFF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highlight>
                            <a:srgbClr val="FFFFFF"/>
                          </a:highlight>
                        </a:rPr>
                        <a:t>Loyalty targeting</a:t>
                      </a:r>
                      <a:endParaRPr sz="1100" u="none" cap="none" strike="noStrike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5" name="Google Shape;125;p8" title="Screenshot 2026-06-05 at 14.58.2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845" y="334163"/>
            <a:ext cx="807455" cy="79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8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Customer Segmentation Logic</a:t>
            </a:r>
            <a:endParaRPr/>
          </a:p>
        </p:txBody>
      </p:sp>
      <p:sp>
        <p:nvSpPr>
          <p:cNvPr id="132" name="Google Shape;132;p9"/>
          <p:cNvSpPr txBox="1"/>
          <p:nvPr>
            <p:ph idx="1" type="body"/>
          </p:nvPr>
        </p:nvSpPr>
        <p:spPr>
          <a:xfrm>
            <a:off x="311700" y="1189175"/>
            <a:ext cx="85206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n"/>
              <a:t>Rule-Based Customer Segmentation Framework</a:t>
            </a:r>
            <a:endParaRPr b="1"/>
          </a:p>
        </p:txBody>
      </p:sp>
      <p:sp>
        <p:nvSpPr>
          <p:cNvPr id="133" name="Google Shape;133;p9"/>
          <p:cNvSpPr txBox="1"/>
          <p:nvPr/>
        </p:nvSpPr>
        <p:spPr>
          <a:xfrm>
            <a:off x="413550" y="4024675"/>
            <a:ext cx="84189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Customers were grouped using behavioral and demographic features to identify the most effective loyalty incentive for each segment.</a:t>
            </a:r>
            <a:endParaRPr b="1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4" name="Google Shape;134;p9"/>
          <p:cNvGraphicFramePr/>
          <p:nvPr/>
        </p:nvGraphicFramePr>
        <p:xfrm>
          <a:off x="1804988" y="202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{2305A7AC-FAE2-4DA1-877B-44B75022E77B}</a:tableStyleId>
              </a:tblPr>
              <a:tblGrid>
                <a:gridCol w="2028825"/>
                <a:gridCol w="3505200"/>
              </a:tblGrid>
              <a:tr h="386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/>
                        <a:t>Variable</a:t>
                      </a:r>
                      <a:endParaRPr sz="1100" u="none" cap="none" strike="noStrike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/>
                        <a:t>Rule</a:t>
                      </a:r>
                      <a:endParaRPr sz="1100" u="none" cap="none" strike="noStrike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Travel Frequency</a:t>
                      </a:r>
                      <a:endParaRPr sz="1100" u="none" cap="none" strike="noStrike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Low / Medium / High</a:t>
                      </a:r>
                      <a:endParaRPr sz="1100" u="none" cap="none" strike="noStrike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Age</a:t>
                      </a:r>
                      <a:endParaRPr sz="1100" u="none" cap="none" strike="noStrike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18-29, 30-39, 40-49, 50-59, 60+</a:t>
                      </a:r>
                      <a:endParaRPr sz="1100" u="none" cap="none" strike="noStrike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Hotel Usage</a:t>
                      </a:r>
                      <a:endParaRPr sz="1100" u="none" cap="none" strike="noStrike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Low / Medium / High</a:t>
                      </a:r>
                      <a:endParaRPr sz="1100" u="none" cap="none" strike="noStrike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Perk Preference</a:t>
                      </a:r>
                      <a:endParaRPr sz="1100" u="none" cap="none" strike="noStrike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Highest Perk Score</a:t>
                      </a:r>
                      <a:endParaRPr sz="1100" u="none" cap="none" strike="noStrike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5" name="Google Shape;135;p9" title="Screenshot 2026-06-05 at 14.58.2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995" y="334163"/>
            <a:ext cx="807455" cy="79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9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Segmentation Outcome</a:t>
            </a:r>
            <a:endParaRPr/>
          </a:p>
        </p:txBody>
      </p:sp>
      <p:sp>
        <p:nvSpPr>
          <p:cNvPr id="142" name="Google Shape;142;p10"/>
          <p:cNvSpPr txBox="1"/>
          <p:nvPr>
            <p:ph idx="1" type="body"/>
          </p:nvPr>
        </p:nvSpPr>
        <p:spPr>
          <a:xfrm>
            <a:off x="413550" y="1432325"/>
            <a:ext cx="8520600" cy="27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" sz="1200">
                <a:solidFill>
                  <a:schemeClr val="dk1"/>
                </a:solidFill>
              </a:rPr>
              <a:t>What We Learned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Flight Discount Voucher preferred by 52%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Age 40–49 highest-value segment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Medium-frequency travelers largest engaged segment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High hotel users show strongest preference for Free Checked Bag</a:t>
            </a:r>
            <a:endParaRPr b="1" sz="1200"/>
          </a:p>
        </p:txBody>
      </p:sp>
      <p:sp>
        <p:nvSpPr>
          <p:cNvPr id="143" name="Google Shape;143;p10"/>
          <p:cNvSpPr txBox="1"/>
          <p:nvPr/>
        </p:nvSpPr>
        <p:spPr>
          <a:xfrm>
            <a:off x="311700" y="1017725"/>
            <a:ext cx="33147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Rule-Based Segmentation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10" title="Screenshot 2026-06-05 at 14.58.2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845" y="334163"/>
            <a:ext cx="807455" cy="79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0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Executive Overview Dashboard</a:t>
            </a:r>
            <a:endParaRPr/>
          </a:p>
        </p:txBody>
      </p:sp>
      <p:sp>
        <p:nvSpPr>
          <p:cNvPr id="151" name="Google Shape;151;p11"/>
          <p:cNvSpPr txBox="1"/>
          <p:nvPr>
            <p:ph idx="1" type="body"/>
          </p:nvPr>
        </p:nvSpPr>
        <p:spPr>
          <a:xfrm>
            <a:off x="311700" y="4348925"/>
            <a:ext cx="85206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n" sz="1000"/>
              <a:t>Flight Discount Voucher is preferred by 52% of customers and consistently ranks first across demographic segments.</a:t>
            </a:r>
            <a:endParaRPr b="1" sz="1000"/>
          </a:p>
        </p:txBody>
      </p:sp>
      <p:pic>
        <p:nvPicPr>
          <p:cNvPr id="152" name="Google Shape;152;p11" title="Executive Overview_FINAL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0975" y="1017725"/>
            <a:ext cx="6705603" cy="3462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1" title="Screenshot 2026-06-05 at 14.58.2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845" y="334163"/>
            <a:ext cx="807455" cy="79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1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Customer Segment Insights Dashboard</a:t>
            </a:r>
            <a:endParaRPr/>
          </a:p>
        </p:txBody>
      </p:sp>
      <p:sp>
        <p:nvSpPr>
          <p:cNvPr id="160" name="Google Shape;160;p12"/>
          <p:cNvSpPr txBox="1"/>
          <p:nvPr>
            <p:ph idx="1" type="body"/>
          </p:nvPr>
        </p:nvSpPr>
        <p:spPr>
          <a:xfrm>
            <a:off x="311700" y="4556625"/>
            <a:ext cx="85206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n" sz="1000"/>
              <a:t>Customers aged 40–49 and medium-frequency travelers represent the highest-value engagement opportunities.</a:t>
            </a:r>
            <a:endParaRPr b="1" sz="1000"/>
          </a:p>
        </p:txBody>
      </p:sp>
      <p:pic>
        <p:nvPicPr>
          <p:cNvPr id="161" name="Google Shape;161;p12" title="Customer Segment Insights_FINAL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900" y="1017725"/>
            <a:ext cx="7848602" cy="353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2" title="Screenshot 2026-06-05 at 14.58.2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845" y="334163"/>
            <a:ext cx="807455" cy="79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2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Strategic Loyalty Recommendations Dashboard</a:t>
            </a:r>
            <a:endParaRPr/>
          </a:p>
        </p:txBody>
      </p:sp>
      <p:sp>
        <p:nvSpPr>
          <p:cNvPr id="169" name="Google Shape;169;p13"/>
          <p:cNvSpPr txBox="1"/>
          <p:nvPr>
            <p:ph idx="1" type="body"/>
          </p:nvPr>
        </p:nvSpPr>
        <p:spPr>
          <a:xfrm>
            <a:off x="311700" y="4491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n" sz="1000"/>
              <a:t>Flight Discount Voucher should become the core loyalty incentive, supported by targeted campaigns for specific behavioral segments.</a:t>
            </a:r>
            <a:endParaRPr b="1" sz="1000"/>
          </a:p>
        </p:txBody>
      </p:sp>
      <p:pic>
        <p:nvPicPr>
          <p:cNvPr id="170" name="Google Shape;170;p13" title="Strategic Loyalty Program Recommendations_FINAL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1017725"/>
            <a:ext cx="7336100" cy="347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3" title="Screenshot 2026-06-05 at 14.58.2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845" y="334163"/>
            <a:ext cx="807455" cy="79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3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Recommendations &amp; Next Steps</a:t>
            </a:r>
            <a:endParaRPr/>
          </a:p>
        </p:txBody>
      </p:sp>
      <p:sp>
        <p:nvSpPr>
          <p:cNvPr id="178" name="Google Shape;178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" sz="2300">
                <a:solidFill>
                  <a:schemeClr val="dk1"/>
                </a:solidFill>
              </a:rPr>
              <a:t>Recommendations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Standardize Flight Discount Voucher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Prioritize 40–49 customer segment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Focus retention on medium-frequency travelers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50000"/>
              <a:buNone/>
            </a:pPr>
            <a:r>
              <a:rPr lang="en">
                <a:solidFill>
                  <a:schemeClr val="dk1"/>
                </a:solidFill>
              </a:rPr>
              <a:t>✅ Promote Free Checked Bag offers to high hotel-usage customers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50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ct val="195652"/>
              <a:buNone/>
            </a:pPr>
            <a:r>
              <a:rPr b="1" lang="en" sz="2300">
                <a:solidFill>
                  <a:schemeClr val="dk1"/>
                </a:solidFill>
              </a:rPr>
              <a:t>Future Opportunities</a:t>
            </a:r>
            <a:endParaRPr b="1" sz="2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50000"/>
              <a:buNone/>
            </a:pPr>
            <a:r>
              <a:rPr lang="en">
                <a:solidFill>
                  <a:schemeClr val="dk1"/>
                </a:solidFill>
              </a:rPr>
              <a:t>✅ A/B testing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50000"/>
              <a:buNone/>
            </a:pPr>
            <a:r>
              <a:rPr lang="en">
                <a:solidFill>
                  <a:schemeClr val="dk1"/>
                </a:solidFill>
              </a:rPr>
              <a:t>✅ Churn prediction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50000"/>
              <a:buNone/>
            </a:pPr>
            <a:r>
              <a:rPr lang="en">
                <a:solidFill>
                  <a:schemeClr val="dk1"/>
                </a:solidFill>
              </a:rPr>
              <a:t>✅ Machine learning personalization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✅ Dynamic perk recommendation engine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250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9" name="Google Shape;179;p14" title="Screenshot 2026-06-05 at 14.58.2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845" y="334163"/>
            <a:ext cx="807455" cy="79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4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86" name="Google Shape;186;p15"/>
          <p:cNvSpPr txBox="1"/>
          <p:nvPr>
            <p:ph idx="1" type="body"/>
          </p:nvPr>
        </p:nvSpPr>
        <p:spPr>
          <a:xfrm>
            <a:off x="311700" y="1394325"/>
            <a:ext cx="85206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311700" y="3604125"/>
            <a:ext cx="6915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Pradeep Bhat</a:t>
            </a:r>
            <a:br>
              <a:rPr b="0" i="0" lang="en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Masterschool Data Science &amp; Analytics Program</a:t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15" title="Screenshot 2026-06-05 at 14.58.2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845" y="334163"/>
            <a:ext cx="807455" cy="79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5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